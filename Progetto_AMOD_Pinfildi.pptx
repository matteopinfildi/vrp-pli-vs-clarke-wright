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75" r:id="rId14"/>
    <p:sldId id="281" r:id="rId15"/>
    <p:sldId id="277" r:id="rId16"/>
    <p:sldId id="278" r:id="rId17"/>
    <p:sldId id="279" r:id="rId18"/>
    <p:sldId id="282" r:id="rId19"/>
    <p:sldId id="283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E79331-2907-1EA7-EA9E-D2F00D70B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4000" dirty="0" err="1"/>
              <a:t>Vehicle</a:t>
            </a:r>
            <a:r>
              <a:rPr lang="it-IT" sz="4000" dirty="0"/>
              <a:t> Routing </a:t>
            </a:r>
            <a:r>
              <a:rPr lang="it-IT" sz="4000" dirty="0" err="1"/>
              <a:t>Problem</a:t>
            </a:r>
            <a:r>
              <a:rPr lang="it-IT" sz="4000" dirty="0"/>
              <a:t> (VRP): Analisi comparativa tra un Modello PLI e l’Euristica di Clarke-Wright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08C07B9-168D-1795-2D3E-0A515A5D6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Progetto AMOD</a:t>
            </a:r>
          </a:p>
          <a:p>
            <a:r>
              <a:rPr lang="it-IT" dirty="0"/>
              <a:t>Matteo Pinfildi</a:t>
            </a:r>
          </a:p>
          <a:p>
            <a:r>
              <a:rPr lang="it-IT" dirty="0"/>
              <a:t>0376255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C44272C-4EE9-16A7-0049-88F24A68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090" y="4144819"/>
            <a:ext cx="2932889" cy="200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A3D318-A83D-0AE3-F59E-73CD177E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 ed Obiettivo dello Studio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76D5CE-4102-485B-DECE-5E2BE29D0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0487"/>
            <a:ext cx="8596668" cy="4525345"/>
          </a:xfrm>
        </p:spPr>
        <p:txBody>
          <a:bodyPr>
            <a:normAutofit/>
          </a:bodyPr>
          <a:lstStyle/>
          <a:p>
            <a:pPr algn="just"/>
            <a:r>
              <a:rPr lang="it-IT" b="1" dirty="0"/>
              <a:t>VRP:</a:t>
            </a:r>
            <a:r>
              <a:rPr lang="it-IT" dirty="0"/>
              <a:t> Problema NP-Hard di ottimizzazione combinatoria il cui obiettivo è determinare un insieme di rotte a costo minimo per servire una rete di clienti. L'assegnazione prevede l'impiego di una flotta di veicoli a capacità limitata, tutti in partenza da un deposito centrale.</a:t>
            </a:r>
          </a:p>
          <a:p>
            <a:pPr algn="just"/>
            <a:endParaRPr lang="it-IT" dirty="0"/>
          </a:p>
          <a:p>
            <a:pPr algn="just"/>
            <a:r>
              <a:rPr lang="it-IT" dirty="0"/>
              <a:t>La risoluzione di problemi NP-Hard impone un trade-off tra la ricerca della soluzione ottima e la necessità di ottenere risultati in tempi ragionevoli.</a:t>
            </a:r>
          </a:p>
          <a:p>
            <a:pPr algn="just"/>
            <a:endParaRPr lang="it-IT" dirty="0"/>
          </a:p>
          <a:p>
            <a:pPr algn="just"/>
            <a:r>
              <a:rPr lang="it-IT" b="1" dirty="0"/>
              <a:t>Obiettivo del Progetto:</a:t>
            </a:r>
            <a:r>
              <a:rPr lang="it-IT" dirty="0"/>
              <a:t> Analizzare le prestazioni e i limiti computazionali confrontando due approcci: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Una formulazione di </a:t>
            </a:r>
            <a:r>
              <a:rPr lang="it-IT" b="1" dirty="0"/>
              <a:t>Programmazione Lineare Intera (PLI)</a:t>
            </a:r>
            <a:r>
              <a:rPr lang="it-IT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L’</a:t>
            </a:r>
            <a:r>
              <a:rPr lang="it-IT" b="1" dirty="0"/>
              <a:t>euristica di Clarke-Wright</a:t>
            </a:r>
            <a:r>
              <a:rPr lang="it-IT" dirty="0"/>
              <a:t>.</a:t>
            </a:r>
          </a:p>
          <a:p>
            <a:pPr algn="just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3320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7D1B31-179A-3EC6-2D7E-BA1666E1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Capacitated</a:t>
            </a:r>
            <a:r>
              <a:rPr lang="it-IT" dirty="0"/>
              <a:t> </a:t>
            </a:r>
            <a:r>
              <a:rPr lang="it-IT" dirty="0" err="1"/>
              <a:t>Vehicle</a:t>
            </a:r>
            <a:r>
              <a:rPr lang="it-IT" dirty="0"/>
              <a:t> Routing </a:t>
            </a:r>
            <a:r>
              <a:rPr lang="it-IT" dirty="0" err="1"/>
              <a:t>Problem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3AF019-63FE-6994-1167-EC79376F3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6528" y="1406013"/>
                <a:ext cx="9109588" cy="526025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it-IT" b="1" dirty="0"/>
                  <a:t>Problema:</a:t>
                </a:r>
              </a:p>
              <a:p>
                <a:pPr marL="800100" lvl="1" indent="-342900" algn="just">
                  <a:buFont typeface="+mj-lt"/>
                  <a:buAutoNum type="alphaUcPeriod"/>
                </a:pPr>
                <a:r>
                  <a:rPr lang="it-IT" dirty="0"/>
                  <a:t>Assegnare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it-IT" dirty="0"/>
                  <a:t> clienti a una flotta massima di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it-IT" dirty="0"/>
                  <a:t> veicoli, i quali operano a partire da un singolo deposito centrale.</a:t>
                </a:r>
              </a:p>
              <a:p>
                <a:pPr marL="800100" lvl="1" indent="-342900" algn="just">
                  <a:buFont typeface="+mj-lt"/>
                  <a:buAutoNum type="alphaUcPeriod"/>
                </a:pPr>
                <a:r>
                  <a:rPr lang="it-IT" dirty="0"/>
                  <a:t>Ogni veicolo ha una capacità di carico massima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it-IT" dirty="0"/>
                  <a:t>.</a:t>
                </a:r>
              </a:p>
              <a:p>
                <a:pPr marL="800100" lvl="1" indent="-342900" algn="just">
                  <a:buFont typeface="+mj-lt"/>
                  <a:buAutoNum type="alphaUcPeriod"/>
                </a:pPr>
                <a:r>
                  <a:rPr lang="it-IT" dirty="0"/>
                  <a:t>Ogni cliente</a:t>
                </a:r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it-IT" dirty="0"/>
                  <a:t>ha una domanda di merce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e ogni tratta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it-IT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ha un 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it-IT" dirty="0"/>
                  <a:t>.</a:t>
                </a:r>
              </a:p>
              <a:p>
                <a:pPr algn="just"/>
                <a:r>
                  <a:rPr lang="it-IT" b="1" dirty="0"/>
                  <a:t>Vincoli:</a:t>
                </a:r>
              </a:p>
              <a:p>
                <a:pPr lvl="1" algn="just">
                  <a:buFont typeface="+mj-lt"/>
                  <a:buAutoNum type="alphaUcPeriod"/>
                </a:pPr>
                <a:r>
                  <a:rPr lang="it-IT" dirty="0"/>
                  <a:t>Il grado di ogni nodo cliente deve essere esattamente pari a 2.</a:t>
                </a:r>
              </a:p>
              <a:p>
                <a:pPr lvl="1" algn="just">
                  <a:buFont typeface="+mj-lt"/>
                  <a:buAutoNum type="alphaUcPeriod"/>
                </a:pPr>
                <a:r>
                  <a:rPr lang="it-IT" dirty="0"/>
                  <a:t>Il grado del nodo deposito deve essere compreso tra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</m:oMath>
                </a14:m>
                <a:r>
                  <a:rPr lang="it-IT" b="1" dirty="0"/>
                  <a:t> </a:t>
                </a:r>
                <a:r>
                  <a:rPr lang="it-IT" dirty="0"/>
                  <a:t>(flotta minima) e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it-IT" b="1" dirty="0"/>
                  <a:t> </a:t>
                </a:r>
                <a:r>
                  <a:rPr lang="it-IT" dirty="0"/>
                  <a:t>(flotta massima).</a:t>
                </a:r>
              </a:p>
              <a:p>
                <a:pPr lvl="1" algn="just">
                  <a:buFont typeface="+mj-lt"/>
                  <a:buAutoNum type="alphaUcPeriod"/>
                </a:pPr>
                <a:r>
                  <a:rPr lang="it-IT" dirty="0"/>
                  <a:t>Si vieta a priori il collegamento tra ogni coppia di clienti la cui domanda combinata supera la capacità del veicolo, dunque: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it-IT" b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it-IT" b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dirty="0"/>
              </a:p>
              <a:p>
                <a:pPr lvl="1" algn="just">
                  <a:buFont typeface="+mj-lt"/>
                  <a:buAutoNum type="alphaUcPeriod"/>
                </a:pPr>
                <a:r>
                  <a:rPr lang="it-IT" b="1" dirty="0"/>
                  <a:t>GSEC: </a:t>
                </a:r>
                <a:r>
                  <a:rPr lang="it-IT" dirty="0"/>
                  <a:t>Per ogni sottoinsieme di clienti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it-IT" dirty="0"/>
                  <a:t>, si impone che il numero massimo di archi interni non superi </a:t>
                </a:r>
                <a14:m>
                  <m:oMath xmlns:m="http://schemas.openxmlformats.org/officeDocument/2006/math">
                    <m:r>
                      <a:rPr lang="it-IT" b="1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it-IT" b="1">
                        <a:latin typeface="Cambria Math" panose="02040503050406030204" pitchFamily="18" charset="0"/>
                      </a:rPr>
                      <m:t>|−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it-IT" dirty="0"/>
                  <a:t>, dove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𝜸</m:t>
                    </m:r>
                    <m:d>
                      <m:d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it-IT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t-IT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d>
                              <m:dPr>
                                <m:ctrlPr>
                                  <a:rPr lang="it-IT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d>
                          </m:num>
                          <m:den>
                            <m:r>
                              <a:rPr lang="it-IT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den>
                        </m:f>
                      </m:e>
                    </m:d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è il numero minimo di veicoli necessari per servire l'insieme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it-IT" dirty="0"/>
                  <a:t>.</a:t>
                </a:r>
                <a:endParaRPr lang="it-IT" b="1" dirty="0"/>
              </a:p>
              <a:p>
                <a:r>
                  <a:rPr lang="it-IT" b="1" dirty="0"/>
                  <a:t>Obiettivo: </a:t>
                </a:r>
                <a:r>
                  <a:rPr lang="it-IT" dirty="0"/>
                  <a:t>Minimizzazione del costo totale, dato dalla somma delle tratte percorse dall'intera flotta.</a:t>
                </a:r>
                <a:endParaRPr lang="it-IT" b="1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3AF019-63FE-6994-1167-EC79376F3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528" y="1406013"/>
                <a:ext cx="9109588" cy="5260258"/>
              </a:xfrm>
              <a:blipFill>
                <a:blip r:embed="rId2"/>
                <a:stretch>
                  <a:fillRect l="-134" t="-1275" r="-9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04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6AB521-F0CF-6377-EB2F-CAA91AE9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modello PLI (1)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10713B1-A6D4-BDD9-B6CE-85ADC6038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43665"/>
                <a:ext cx="9263080" cy="4984954"/>
              </a:xfrm>
            </p:spPr>
            <p:txBody>
              <a:bodyPr>
                <a:normAutofit/>
              </a:bodyPr>
              <a:lstStyle/>
              <a:p>
                <a:r>
                  <a:rPr lang="it-IT" b="1" dirty="0"/>
                  <a:t>Variabili di decisione:</a:t>
                </a:r>
              </a:p>
              <a:p>
                <a:pPr lvl="1"/>
                <a:r>
                  <a:rPr lang="it-IT" dirty="0"/>
                  <a:t>Variabile di </a:t>
                </a:r>
                <a:r>
                  <a:rPr lang="it-IT" dirty="0" err="1"/>
                  <a:t>routing</a:t>
                </a:r>
                <a:r>
                  <a:rPr lang="it-IT" dirty="0"/>
                  <a:t> (Intera):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/>
                  <a:t> numero di volte in cui la tratta tra il nodo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it-IT" dirty="0"/>
                  <a:t> e il nodo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it-IT" dirty="0"/>
                  <a:t> viene percorsa.</a:t>
                </a:r>
              </a:p>
              <a:p>
                <a:pPr lvl="1"/>
                <a:r>
                  <a:rPr lang="it-IT" dirty="0"/>
                  <a:t>Con i seguenti domini:</a:t>
                </a:r>
              </a:p>
              <a:p>
                <a:pPr lvl="2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7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7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it-IT" sz="1700">
                        <a:latin typeface="Cambria Math" panose="02040503050406030204" pitchFamily="18" charset="0"/>
                      </a:rPr>
                      <m:t> ∀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170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sz="17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7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>
                            <a:latin typeface="Cambria Math" panose="02040503050406030204" pitchFamily="18" charset="0"/>
                          </a:rPr>
                          <m:t>1,...,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it-IT" sz="170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17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17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sz="1700" dirty="0"/>
              </a:p>
              <a:p>
                <a:pPr lvl="2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7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17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7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>
                            <a:latin typeface="Cambria Math" panose="02040503050406030204" pitchFamily="18" charset="0"/>
                          </a:rPr>
                          <m:t>0,1,2</m:t>
                        </m:r>
                      </m:e>
                    </m:d>
                    <m:r>
                      <a:rPr lang="it-IT" sz="1700">
                        <a:latin typeface="Cambria Math" panose="02040503050406030204" pitchFamily="18" charset="0"/>
                      </a:rPr>
                      <m:t> ∀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sz="17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7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>
                            <a:latin typeface="Cambria Math" panose="02040503050406030204" pitchFamily="18" charset="0"/>
                          </a:rPr>
                          <m:t>1,...,</m:t>
                        </m:r>
                        <m:r>
                          <a:rPr lang="it-IT" sz="17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it-IT" sz="1700" dirty="0"/>
              </a:p>
              <a:p>
                <a:pPr marL="457200" lvl="1" indent="0" algn="just">
                  <a:buNone/>
                </a:pPr>
                <a:r>
                  <a:rPr lang="it-IT" dirty="0"/>
                  <a:t>       dunque, per i collegamenti tra clienti, la tratta può essere percorsa al massimo una     	volta, mentre per i collegamenti incidenti al deposito, la tratta può essere percorsa 	fino       	a due volte.</a:t>
                </a:r>
              </a:p>
              <a:p>
                <a:pPr marL="457200" lvl="1" indent="0" algn="just">
                  <a:buNone/>
                </a:pPr>
                <a:endParaRPr lang="it-IT" b="1" dirty="0"/>
              </a:p>
              <a:p>
                <a:pPr algn="just"/>
                <a:r>
                  <a:rPr lang="it-IT" b="1" dirty="0"/>
                  <a:t>Funzione Obiettivo: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it-IT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endParaRPr lang="it-IT" dirty="0"/>
              </a:p>
              <a:p>
                <a:pPr marL="0" indent="0" algn="just">
                  <a:buNone/>
                </a:pPr>
                <a:endParaRPr lang="it-IT" sz="1400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10713B1-A6D4-BDD9-B6CE-85ADC6038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43665"/>
                <a:ext cx="9263080" cy="4984954"/>
              </a:xfrm>
              <a:blipFill>
                <a:blip r:embed="rId2"/>
                <a:stretch>
                  <a:fillRect l="-132" t="-733" r="-3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49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57758A-204E-C9E9-3EC0-83972975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modello PLI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8C393C0-F78E-276E-6E24-C6A6C2AE19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35510"/>
                <a:ext cx="8596668" cy="524059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it-IT" b="1" dirty="0"/>
                  <a:t>Vincoli: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it-IT" dirty="0"/>
                  <a:t>Vincoli di grado: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nary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  <m:r>
                        <a:rPr lang="it-IT">
                          <a:latin typeface="Cambria Math" panose="02040503050406030204" pitchFamily="18" charset="0"/>
                        </a:rPr>
                        <m:t>=2 ∀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it-IT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1,…,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it-IT" sz="1800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it-IT" dirty="0"/>
                  <a:t>Vincoli sul deposito: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>
                          <a:latin typeface="Cambria Math" panose="02040503050406030204" pitchFamily="18" charset="0"/>
                        </a:rPr>
                        <m:t>≤2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it-IT" i="0"/>
                        <m:t>dove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it-IT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it-IT" dirty="0"/>
                  <a:t>Vincoli di incompatibilità:</a:t>
                </a:r>
                <a:br>
                  <a:rPr lang="it-IT" dirty="0"/>
                </a:br>
                <a:r>
                  <a:rPr lang="it-IT" dirty="0"/>
                  <a:t>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1800">
                        <a:latin typeface="Cambria Math" panose="02040503050406030204" pitchFamily="18" charset="0"/>
                      </a:rPr>
                      <m:t>=0 ∀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it-IT" sz="1800" i="0"/>
                      <m:t> con 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18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nor/>
                      </m:rPr>
                      <a:rPr lang="it-IT" sz="1800" i="0"/>
                      <m:t> e 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18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18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it-IT" sz="1800" b="1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it-IT" dirty="0"/>
                  <a:t>GSEC: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it-IT">
                          <a:latin typeface="Cambria Math" panose="02040503050406030204" pitchFamily="18" charset="0"/>
                        </a:rPr>
                        <m:t>≤|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|−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 ∀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⊆</m:t>
                      </m:r>
                      <m:d>
                        <m:dPr>
                          <m:begChr m:val="{"/>
                          <m:endChr m:val="}"/>
                          <m:ctrlPr>
                            <a:rPr lang="it-IT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1,…,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,|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|≥2</m:t>
                      </m:r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it-IT" i="0"/>
                        <m:t>dove 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it-IT" dirty="0"/>
              </a:p>
              <a:p>
                <a:pPr marL="0" indent="0" algn="just">
                  <a:buNone/>
                </a:pPr>
                <a:r>
                  <a:rPr lang="it-IT" dirty="0"/>
                  <a:t>N.B.: Data la crescita esponenziale, i GSEC sono generati dinamicamente tramite algoritmo di Cutting Plane.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8C393C0-F78E-276E-6E24-C6A6C2AE19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35510"/>
                <a:ext cx="8596668" cy="5240593"/>
              </a:xfrm>
              <a:blipFill>
                <a:blip r:embed="rId2"/>
                <a:stretch>
                  <a:fillRect l="-426" t="-1279" r="-4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87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16F335-9AB2-F534-3CFD-31967D7F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Euristico di Clarke-Wright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AF6513D-C25C-F5C6-18BF-AD60D2C2E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43665"/>
                <a:ext cx="8596668" cy="494562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it-IT" dirty="0"/>
                  <a:t>L’algoritmo è strutturato come segue: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it-IT" dirty="0"/>
                  <a:t>Calcolare il </a:t>
                </a:r>
                <a:r>
                  <a:rPr lang="it-IT" dirty="0" err="1"/>
                  <a:t>saving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it-IT" b="1" dirty="0"/>
                  <a:t> </a:t>
                </a:r>
                <a:r>
                  <a:rPr lang="it-IT" dirty="0"/>
                  <a:t>generato dall’unione di ogni coppia di clienti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it-IT" dirty="0"/>
                  <a:t>:</a:t>
                </a:r>
                <a:br>
                  <a:rPr lang="it-IT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it-IT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it-IT" b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it-IT" b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it-IT" b="1" dirty="0"/>
              </a:p>
              <a:p>
                <a:pPr lvl="0" algn="just">
                  <a:buFont typeface="+mj-lt"/>
                  <a:buAutoNum type="arabicPeriod"/>
                </a:pPr>
                <a:r>
                  <a:rPr lang="it-IT" dirty="0"/>
                  <a:t>Ordinare tutte le coppie in una lista in ordine di </a:t>
                </a:r>
                <a:r>
                  <a:rPr lang="it-IT" dirty="0" err="1"/>
                  <a:t>saving</a:t>
                </a:r>
                <a:r>
                  <a:rPr lang="it-IT" dirty="0"/>
                  <a:t> decrescente;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it-IT" dirty="0"/>
                  <a:t>Inizializzare la soluzione assegnando ogni cliente a una rotta dedicata (un veicolo per cliente);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it-IT" dirty="0"/>
                  <a:t>Scorrendo la lista ordinata, per ogni coppia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it-IT" b="1" dirty="0"/>
                  <a:t> </a:t>
                </a:r>
                <a:r>
                  <a:rPr lang="it-IT" dirty="0"/>
                  <a:t>unire le rotte se sono verificate tre condizioni: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dirty="0"/>
                  <a:t>I nodi </a:t>
                </a:r>
                <a14:m>
                  <m:oMath xmlns:m="http://schemas.openxmlformats.org/officeDocument/2006/math">
                    <m:r>
                      <a:rPr lang="it-IT" sz="14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it-IT" b="1" dirty="0"/>
                  <a:t> </a:t>
                </a:r>
                <a:r>
                  <a:rPr lang="it-IT" dirty="0"/>
                  <a:t>e</a:t>
                </a:r>
                <a:r>
                  <a:rPr lang="it-IT" b="1" dirty="0"/>
                  <a:t> </a:t>
                </a:r>
                <a14:m>
                  <m:oMath xmlns:m="http://schemas.openxmlformats.org/officeDocument/2006/math">
                    <m:r>
                      <a:rPr lang="it-IT" sz="14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it-IT" b="1" dirty="0"/>
                  <a:t> </a:t>
                </a:r>
                <a:r>
                  <a:rPr lang="it-IT" dirty="0"/>
                  <a:t>appartengono a due rotte distinte;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dirty="0"/>
                  <a:t>I nodi </a:t>
                </a:r>
                <a14:m>
                  <m:oMath xmlns:m="http://schemas.openxmlformats.org/officeDocument/2006/math">
                    <m:r>
                      <a:rPr lang="it-IT" sz="14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it-IT" b="1" dirty="0"/>
                  <a:t> </a:t>
                </a:r>
                <a:r>
                  <a:rPr lang="it-IT" dirty="0"/>
                  <a:t>e</a:t>
                </a:r>
                <a:r>
                  <a:rPr lang="it-IT" b="1" dirty="0"/>
                  <a:t> </a:t>
                </a:r>
                <a14:m>
                  <m:oMath xmlns:m="http://schemas.openxmlformats.org/officeDocument/2006/math">
                    <m:r>
                      <a:rPr lang="it-IT" sz="1400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it-IT" b="1" dirty="0"/>
                  <a:t> </a:t>
                </a:r>
                <a:r>
                  <a:rPr lang="it-IT" dirty="0"/>
                  <a:t>si trovano agli estremi delle rispettive rotte;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dirty="0"/>
                  <a:t>L'unione delle rotte rispetta la capacità massima del veicolo.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it-IT" dirty="0"/>
                  <a:t>L'algoritmo termina automaticamente quando l'intera lista dei </a:t>
                </a:r>
                <a:r>
                  <a:rPr lang="it-IT" dirty="0" err="1"/>
                  <a:t>savings</a:t>
                </a:r>
                <a:r>
                  <a:rPr lang="it-IT" dirty="0"/>
                  <a:t> è stata esaminata.</a:t>
                </a:r>
              </a:p>
              <a:p>
                <a:pPr marL="0" lv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AF6513D-C25C-F5C6-18BF-AD60D2C2E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43665"/>
                <a:ext cx="8596668" cy="4945625"/>
              </a:xfrm>
              <a:blipFill>
                <a:blip r:embed="rId2"/>
                <a:stretch>
                  <a:fillRect l="-567" t="-739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85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D68AD8-317A-76E1-28BD-A8FA30FC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Generazione Randomica delle Istanze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76CE14F-A1D7-C943-DA9F-57788C7B1E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74839"/>
                <a:ext cx="8596668" cy="5152104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Distribuzione spaziale dei clienti: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Istanze Uniformi:</a:t>
                </a:r>
                <a:r>
                  <a:rPr lang="it-IT" dirty="0"/>
                  <a:t> Le coordinate dei clienti sono generate casualmente nel piano cartesiano seguendo una distribuzione uniforme continua.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Istanze a Cluster:</a:t>
                </a:r>
                <a:r>
                  <a:rPr lang="it-IT" dirty="0"/>
                  <a:t> Clienti raggruppati in cluster attorno a</a:t>
                </a:r>
                <a:r>
                  <a:rPr lang="it-IT" b="1" dirty="0"/>
                  <a:t> </a:t>
                </a:r>
                <a:r>
                  <a:rPr lang="it-IT" dirty="0"/>
                  <a:t>3</a:t>
                </a:r>
                <a:r>
                  <a:rPr lang="it-IT" b="1" dirty="0"/>
                  <a:t> </a:t>
                </a:r>
                <a:r>
                  <a:rPr lang="it-IT" dirty="0"/>
                  <a:t>centri casuali, generati tramite distribuzione gaussiana.</a:t>
                </a:r>
              </a:p>
              <a:p>
                <a:pPr algn="just"/>
                <a:r>
                  <a:rPr lang="it-IT" dirty="0"/>
                  <a:t>Dati dell’istanza:</a:t>
                </a:r>
                <a:endParaRPr lang="it-IT" b="1" dirty="0"/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Domanda dei Clienti:</a:t>
                </a:r>
                <a:r>
                  <a:rPr lang="it-IT" dirty="0"/>
                  <a:t> Generata pseudocasualmente in un range predefinito:</a:t>
                </a:r>
                <a:br>
                  <a:rPr lang="it-IT" dirty="0"/>
                </a:br>
                <a:endParaRPr lang="it-IT" dirty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it-IT" sz="17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7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700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1700" b="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it-IT" sz="1700" b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7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700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1700" b="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1700" dirty="0"/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Matrice dei Costi:</a:t>
                </a:r>
                <a:r>
                  <a:rPr lang="it-IT" dirty="0"/>
                  <a:t> Distanze euclidee convertite a valori interi per ottimizzare la convergenza del solutore, arrotondate per eccesso per preservare la disuguaglianza triangolare.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Capacità dei Veicoli:</a:t>
                </a:r>
                <a:r>
                  <a:rPr lang="it-IT" dirty="0"/>
                  <a:t> Calcolata dinamicamente sulla base della domanda totale e del numero di veicoli, con un margine di sicurezza del 15%. La formula è:</a:t>
                </a:r>
                <a:br>
                  <a:rPr lang="it-IT" dirty="0"/>
                </a:br>
                <a:br>
                  <a:rPr lang="it-IT" dirty="0"/>
                </a:b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⌈"/>
                                <m:endChr m:val="⌉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it-IT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num>
                                  <m:den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den>
                                </m:f>
                                <m:r>
                                  <a:rPr lang="it-IT">
                                    <a:latin typeface="Cambria Math" panose="02040503050406030204" pitchFamily="18" charset="0"/>
                                  </a:rPr>
                                  <m:t>×1.15</m:t>
                                </m:r>
                              </m:e>
                            </m:d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,</m:t>
                            </m:r>
                            <m:func>
                              <m:func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it-IT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func>
                          </m:e>
                        </m:d>
                      </m:e>
                    </m:func>
                  </m:oMath>
                </a14:m>
                <a:endParaRPr lang="it-IT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it-IT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76CE14F-A1D7-C943-DA9F-57788C7B1E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74839"/>
                <a:ext cx="8596668" cy="5152104"/>
              </a:xfrm>
              <a:blipFill>
                <a:blip r:embed="rId2"/>
                <a:stretch>
                  <a:fillRect l="-142" t="-828" r="-4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0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C918C2-E982-FB38-1E83-BADF3323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Stress Test per il PLI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A1AEDC3-8C4A-7E59-F2EE-E0289ACF84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3" y="1484672"/>
                <a:ext cx="9194253" cy="4994786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it-IT" dirty="0"/>
                  <a:t>Generazione randomica delle istanze con topologia a Cluster</a:t>
                </a:r>
                <a:r>
                  <a:rPr lang="it-IT" b="1" dirty="0"/>
                  <a:t>.</a:t>
                </a:r>
                <a:endParaRPr lang="it-IT" dirty="0"/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Aumento graduale del numero di clienti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dirty="0"/>
                  <a:t>partendo da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it-IT" dirty="0"/>
                  <a:t>fino a </a:t>
                </a:r>
                <a:br>
                  <a:rPr lang="it-IT" dirty="0"/>
                </a:b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𝑵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lang="it-IT" dirty="0"/>
                  <a:t>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Flotta massima fissata a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it-IT" dirty="0"/>
                  <a:t> = 3 e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it-IT" dirty="0"/>
                  <a:t> = 5 veicoli.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5 repliche indipendenti per ogni combinazione di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it-IT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</m:d>
                  </m:oMath>
                </a14:m>
                <a:r>
                  <a:rPr lang="it-IT" dirty="0"/>
                  <a:t>. 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Tempo limite fissato a 300 secondi per singola istanza.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Sospensione automatica dello stress test qualora una specifica configurazione registri il 100% di Time-Out (5 repliche su 5 vanno in Time-Out).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A1AEDC3-8C4A-7E59-F2EE-E0289ACF84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3" y="1484672"/>
                <a:ext cx="9194253" cy="4994786"/>
              </a:xfrm>
              <a:blipFill>
                <a:blip r:embed="rId2"/>
                <a:stretch>
                  <a:fillRect l="-133" t="-855" r="-597" b="-6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6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06569D-0CE3-66BD-8984-F84FC979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dello Stress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D3E9929-D289-B37E-C45E-F88E40AA7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74839"/>
                <a:ext cx="8596668" cy="520126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it-IT" dirty="0"/>
                  <a:t>All’aumentare di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dirty="0"/>
                  <a:t> si è evidenziato un rapido incremento del costo computazionale, rendendo necessarie soglie di analisi separate. </a:t>
                </a:r>
              </a:p>
              <a:p>
                <a:pPr algn="just"/>
                <a:r>
                  <a:rPr lang="it-IT" dirty="0"/>
                  <a:t>Sulla base dei Time-Out registrati, le istanze per l’esperimento finale sono state suddivise in tre classi dimensionali: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Istanze Piccole: </a:t>
                </a:r>
                <a:r>
                  <a:rPr lang="it-IT" dirty="0"/>
                  <a:t>Soglia in cui il PLI risolve tutte le istanze senza registrare Time-Out:</a:t>
                </a:r>
              </a:p>
              <a:p>
                <a:pPr lvl="2" algn="just">
                  <a:buFont typeface="Courier New" panose="02070309020205020404" pitchFamily="49" charset="0"/>
                  <a:buChar char="o"/>
                </a:pPr>
                <a:r>
                  <a:rPr lang="it-IT" sz="1500" dirty="0"/>
                  <a:t>Flotta </a:t>
                </a:r>
                <a14:m>
                  <m:oMath xmlns:m="http://schemas.openxmlformats.org/officeDocument/2006/math">
                    <m:r>
                      <a:rPr lang="it-IT" sz="15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=3⟹</m:t>
                    </m:r>
                    <m:r>
                      <a:rPr lang="it-IT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it-IT" sz="1500" dirty="0"/>
              </a:p>
              <a:p>
                <a:pPr lvl="2" algn="just">
                  <a:buFont typeface="Courier New" panose="02070309020205020404" pitchFamily="49" charset="0"/>
                  <a:buChar char="o"/>
                </a:pPr>
                <a:r>
                  <a:rPr lang="it-IT" sz="1500" dirty="0"/>
                  <a:t>Flotta </a:t>
                </a:r>
                <a14:m>
                  <m:oMath xmlns:m="http://schemas.openxmlformats.org/officeDocument/2006/math">
                    <m:r>
                      <a:rPr lang="it-IT" sz="15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=5⟹</m:t>
                    </m:r>
                    <m:r>
                      <a:rPr lang="it-IT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it-IT" sz="1500" dirty="0"/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Istanze Medie: </a:t>
                </a:r>
                <a:r>
                  <a:rPr lang="it-IT" dirty="0"/>
                  <a:t>Soglia in cui il PLI inizia a registrare i primi Time-Out:</a:t>
                </a:r>
              </a:p>
              <a:p>
                <a:pPr lvl="2" algn="just">
                  <a:buFont typeface="Courier New" panose="02070309020205020404" pitchFamily="49" charset="0"/>
                  <a:buChar char="o"/>
                </a:pPr>
                <a:r>
                  <a:rPr lang="it-IT" sz="1500" dirty="0"/>
                  <a:t>Flotta </a:t>
                </a:r>
                <a14:m>
                  <m:oMath xmlns:m="http://schemas.openxmlformats.org/officeDocument/2006/math">
                    <m:r>
                      <a:rPr lang="it-IT" sz="15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=3⟹</m:t>
                    </m:r>
                    <m:r>
                      <a:rPr lang="it-IT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it-IT" sz="1500" dirty="0"/>
              </a:p>
              <a:p>
                <a:pPr lvl="2" algn="just">
                  <a:buFont typeface="Courier New" panose="02070309020205020404" pitchFamily="49" charset="0"/>
                  <a:buChar char="o"/>
                </a:pPr>
                <a:r>
                  <a:rPr lang="it-IT" sz="1500" dirty="0"/>
                  <a:t>Flotta </a:t>
                </a:r>
                <a14:m>
                  <m:oMath xmlns:m="http://schemas.openxmlformats.org/officeDocument/2006/math">
                    <m:r>
                      <a:rPr lang="it-IT" sz="15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=5⟹</m:t>
                    </m:r>
                    <m:r>
                      <a:rPr lang="it-IT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it-IT" sz="1500" dirty="0"/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b="1" dirty="0"/>
                  <a:t>Istanze Grandi: </a:t>
                </a:r>
                <a:r>
                  <a:rPr lang="it-IT" dirty="0"/>
                  <a:t>Soglia in cui il PLI va sistematicamente in Time-Out: </a:t>
                </a:r>
              </a:p>
              <a:p>
                <a:pPr lvl="2" algn="just">
                  <a:buFont typeface="Courier New" panose="02070309020205020404" pitchFamily="49" charset="0"/>
                  <a:buChar char="o"/>
                </a:pPr>
                <a:r>
                  <a:rPr lang="it-IT" sz="1500" dirty="0"/>
                  <a:t>Flotta </a:t>
                </a:r>
                <a14:m>
                  <m:oMath xmlns:m="http://schemas.openxmlformats.org/officeDocument/2006/math">
                    <m:r>
                      <a:rPr lang="it-IT" sz="15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=3⟹</m:t>
                    </m:r>
                    <m:r>
                      <a:rPr lang="it-IT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endParaRPr lang="it-IT" sz="1500" dirty="0"/>
              </a:p>
              <a:p>
                <a:pPr lvl="2" algn="just">
                  <a:buFont typeface="Courier New" panose="02070309020205020404" pitchFamily="49" charset="0"/>
                  <a:buChar char="o"/>
                </a:pPr>
                <a:r>
                  <a:rPr lang="it-IT" sz="1500" dirty="0"/>
                  <a:t>Flotta </a:t>
                </a:r>
                <a14:m>
                  <m:oMath xmlns:m="http://schemas.openxmlformats.org/officeDocument/2006/math">
                    <m:r>
                      <a:rPr lang="it-IT" sz="15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=5⟹</m:t>
                    </m:r>
                    <m:r>
                      <a:rPr lang="it-IT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500">
                        <a:latin typeface="Cambria Math" panose="02040503050406030204" pitchFamily="18" charset="0"/>
                      </a:rPr>
                      <m:t>=45</m:t>
                    </m:r>
                  </m:oMath>
                </a14:m>
                <a:endParaRPr lang="it-IT" sz="1500" dirty="0"/>
              </a:p>
              <a:p>
                <a:pPr marL="914400" lvl="2" indent="0">
                  <a:buNone/>
                </a:pPr>
                <a:endParaRPr lang="it-IT" dirty="0"/>
              </a:p>
              <a:p>
                <a:pPr marL="914400" lvl="2" indent="0">
                  <a:buNone/>
                </a:pPr>
                <a:endParaRPr lang="it-IT" dirty="0"/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D3E9929-D289-B37E-C45E-F88E40AA7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74839"/>
                <a:ext cx="8596668" cy="5201264"/>
              </a:xfrm>
              <a:blipFill>
                <a:blip r:embed="rId2"/>
                <a:stretch>
                  <a:fillRect l="-142" t="-821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08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669BF-387C-8A9B-E1D7-5F0A536C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Esperimento finale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7059C3F-3726-3F40-B894-0785A85EDF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35510"/>
                <a:ext cx="8596668" cy="491612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it-IT" dirty="0"/>
                  <a:t>Per ogni combinazione di Flotta (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it-IT" b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it-IT" b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it-IT" dirty="0"/>
                  <a:t>), Classe Dimensionale (Piccola, Media, Grande) e Topologia (Uniforme, Cluster) sono state generate 10 istanze casuali.</a:t>
                </a:r>
              </a:p>
              <a:p>
                <a:pPr algn="just"/>
                <a:r>
                  <a:rPr lang="it-IT" dirty="0"/>
                  <a:t>PLI ed euristica di Clarke-Wright sono stati eseguiti sulle stesse istanze, registrando i costi e i tempi di computazione.</a:t>
                </a:r>
              </a:p>
              <a:p>
                <a:pPr lvl="0" algn="just"/>
                <a:r>
                  <a:rPr lang="it-IT" dirty="0"/>
                  <a:t>L'efficacia dell'euristica di Clarke-Wright è misurata valutando lo scostamento percentuale del suo costo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𝐶𝑊</m:t>
                        </m:r>
                      </m:sub>
                    </m:sSub>
                  </m:oMath>
                </a14:m>
                <a:r>
                  <a:rPr lang="it-IT" dirty="0"/>
                  <a:t>) rispetto al valore di riferimento del PLI:</a:t>
                </a:r>
              </a:p>
              <a:p>
                <a:pPr lvl="0" algn="just"/>
                <a:endParaRPr lang="it-IT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it-IT" i="1">
                          <a:latin typeface="Cambria Math" panose="02040503050406030204" pitchFamily="18" charset="0"/>
                        </a:rPr>
                        <m:t>𝐺𝑎𝑝</m:t>
                      </m:r>
                      <m:d>
                        <m:dPr>
                          <m:ctrlPr>
                            <a:rPr lang="it-IT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𝐶𝑊</m:t>
                              </m:r>
                            </m:sub>
                          </m:s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𝑃𝐿𝐼</m:t>
                              </m:r>
                            </m:sub>
                          </m:sSub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𝑅𝑒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𝑃𝐿𝐼</m:t>
                              </m:r>
                            </m:sub>
                          </m:sSub>
                        </m:den>
                      </m:f>
                      <m:r>
                        <a:rPr lang="it-IT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it-IT" dirty="0"/>
              </a:p>
              <a:p>
                <a:pPr algn="just"/>
                <a:r>
                  <a:rPr lang="it-IT" dirty="0"/>
                  <a:t>Si ha che: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sz="1700" dirty="0"/>
                  <a:t>Se il modello PLI converge entro i 300s </a:t>
                </a:r>
                <a14:m>
                  <m:oMath xmlns:m="http://schemas.openxmlformats.org/officeDocument/2006/math">
                    <m:r>
                      <a:rPr lang="it-IT" sz="1700">
                        <a:latin typeface="Cambria Math" panose="02040503050406030204" pitchFamily="18" charset="0"/>
                      </a:rPr>
                      <m:t>⟹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𝑅𝑒</m:t>
                    </m:r>
                    <m:sSub>
                      <m:sSub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𝑃𝐿𝐼</m:t>
                        </m:r>
                      </m:sub>
                    </m:sSub>
                    <m:r>
                      <a:rPr lang="it-IT" sz="17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700" dirty="0"/>
                  <a:t> costo ottimo globale.</a:t>
                </a:r>
              </a:p>
              <a:p>
                <a:pPr lvl="1" algn="just">
                  <a:buFont typeface="Wingdings" panose="05000000000000000000" pitchFamily="2" charset="2"/>
                  <a:buChar char="§"/>
                </a:pPr>
                <a:r>
                  <a:rPr lang="it-IT" sz="1700" dirty="0"/>
                  <a:t>Se il modello PLI va in Time-Out </a:t>
                </a:r>
                <a14:m>
                  <m:oMath xmlns:m="http://schemas.openxmlformats.org/officeDocument/2006/math">
                    <m:r>
                      <a:rPr lang="it-IT" sz="1700">
                        <a:latin typeface="Cambria Math" panose="02040503050406030204" pitchFamily="18" charset="0"/>
                      </a:rPr>
                      <m:t>⟹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𝑅𝑒</m:t>
                    </m:r>
                    <m:sSub>
                      <m:sSub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𝑃𝐿𝐼</m:t>
                        </m:r>
                      </m:sub>
                    </m:sSub>
                    <m:r>
                      <a:rPr lang="it-IT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700" i="1">
                        <a:latin typeface="Cambria Math" panose="02040503050406030204" pitchFamily="18" charset="0"/>
                      </a:rPr>
                      <m:t>𝐿𝐵</m:t>
                    </m:r>
                  </m:oMath>
                </a14:m>
                <a:r>
                  <a:rPr lang="it-IT" dirty="0"/>
                  <a:t>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7059C3F-3726-3F40-B894-0785A85ED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35510"/>
                <a:ext cx="8596668" cy="4916129"/>
              </a:xfrm>
              <a:blipFill>
                <a:blip r:embed="rId2"/>
                <a:stretch>
                  <a:fillRect l="-142" t="-743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71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B7F062-5C6F-D57C-A669-D89B042C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Esperimento: Caso K = 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87EF697-8548-B6FA-DF6F-17D0FBC8EF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386349"/>
                <a:ext cx="8596668" cy="4655014"/>
              </a:xfrm>
            </p:spPr>
            <p:txBody>
              <a:bodyPr/>
              <a:lstStyle/>
              <a:p>
                <a:pPr lvl="0" algn="just"/>
                <a:r>
                  <a:rPr lang="it-IT" dirty="0"/>
                  <a:t>Il solver trova l’ottimo rapidamente per le istanze 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=5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it-IT" dirty="0"/>
                  <a:t> ma a </a:t>
                </a:r>
                <a:br>
                  <a:rPr lang="it-IT" dirty="0"/>
                </a:b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=100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inizia a mostrare i primi limiti, fino ad arrivare 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lang="it-IT" dirty="0"/>
                  <a:t> dove la quasi totalità delle istanze va in Time-Out.</a:t>
                </a:r>
              </a:p>
              <a:p>
                <a:pPr lvl="0" algn="just"/>
                <a:r>
                  <a:rPr lang="it-IT" dirty="0"/>
                  <a:t>Come mostrano i grafici, le due distribuzioni spaziali presentano un tasso di fallimento quasi identico al variare di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it-IT" dirty="0"/>
                  <a:t>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87EF697-8548-B6FA-DF6F-17D0FBC8E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386349"/>
                <a:ext cx="8596668" cy="4655014"/>
              </a:xfrm>
              <a:blipFill>
                <a:blip r:embed="rId2"/>
                <a:stretch>
                  <a:fillRect l="-142" t="-785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magine 8">
            <a:extLst>
              <a:ext uri="{FF2B5EF4-FFF2-40B4-BE49-F238E27FC236}">
                <a16:creationId xmlns:a16="http://schemas.microsoft.com/office/drawing/2014/main" id="{4A41FD15-0B4A-CC7C-2965-1A6316FCB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966466"/>
            <a:ext cx="8648620" cy="364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4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7FD612-90F4-E5AB-CE0F-C2925FD0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Esperimento: Caso K = 3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65C48-129A-F18B-7397-2567285A8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013"/>
            <a:ext cx="8596668" cy="3963373"/>
          </a:xfrm>
        </p:spPr>
        <p:txBody>
          <a:bodyPr/>
          <a:lstStyle/>
          <a:p>
            <a:pPr lvl="0" algn="just"/>
            <a:r>
              <a:rPr lang="it-IT" dirty="0"/>
              <a:t>I tempi del PLI (linea rossa) crescono, fino ad andare in Time-Out per le istanze grandi.</a:t>
            </a:r>
          </a:p>
          <a:p>
            <a:pPr lvl="0" algn="just"/>
            <a:r>
              <a:rPr lang="it-IT" dirty="0"/>
              <a:t>L'euristica di Clarke-Wright (linea blu tratteggiata) mantiene tempi di calcolo quasi nulli. Le istanze grandi vengono risolte, in media, in appena 0.05 secondi.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EB78086-3484-5D6A-30FB-A96F462E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028610"/>
            <a:ext cx="9192841" cy="379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5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A8922-ABA6-60D1-2F7F-52394FE2E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r>
              <a:rPr lang="it-IT" dirty="0"/>
              <a:t>Risultati Caso K = 3: Qualità dell'Euristica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F043A9-329B-1F21-771D-E7BCCC503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7038"/>
            <a:ext cx="4661582" cy="4923762"/>
          </a:xfrm>
        </p:spPr>
        <p:txBody>
          <a:bodyPr>
            <a:normAutofit lnSpcReduction="10000"/>
          </a:bodyPr>
          <a:lstStyle/>
          <a:p>
            <a:pPr algn="just"/>
            <a:r>
              <a:rPr lang="it-IT" dirty="0"/>
              <a:t>L'euristica di Clarke-Wright mantiene una qualità della soluzione più che accettabile.</a:t>
            </a:r>
          </a:p>
          <a:p>
            <a:pPr algn="just"/>
            <a:endParaRPr lang="it-IT" dirty="0"/>
          </a:p>
          <a:p>
            <a:pPr algn="just"/>
            <a:endParaRPr lang="it-IT" dirty="0"/>
          </a:p>
          <a:p>
            <a:pPr algn="just"/>
            <a:r>
              <a:rPr lang="it-IT" dirty="0"/>
              <a:t>L'errore medio percentuale (Gap) cresce all'aumentare dei clienti, passando dal 5.8% per le istanze piccole all'11.1% per quelle grandi.</a:t>
            </a:r>
          </a:p>
          <a:p>
            <a:pPr algn="just"/>
            <a:endParaRPr lang="it-IT" dirty="0"/>
          </a:p>
          <a:p>
            <a:pPr algn="just"/>
            <a:endParaRPr lang="it-IT" dirty="0"/>
          </a:p>
          <a:p>
            <a:pPr algn="just"/>
            <a:r>
              <a:rPr lang="it-IT" b="1" dirty="0"/>
              <a:t>Risultati</a:t>
            </a:r>
            <a:r>
              <a:rPr lang="it-IT" dirty="0"/>
              <a:t>: buon compromesso tra la qualità delle rotte trovate e i tempi di esecuzione, che risultano praticamente azzerati.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E343103-3CC5-E433-8163-250561E95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275" y="1337187"/>
            <a:ext cx="6837494" cy="455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4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A7B04-849C-A41A-11DE-84C2BE45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986CB8-CE8F-4DEC-5D6B-1F9CBEA7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60" y="386427"/>
            <a:ext cx="8596668" cy="1320800"/>
          </a:xfrm>
        </p:spPr>
        <p:txBody>
          <a:bodyPr/>
          <a:lstStyle/>
          <a:p>
            <a:r>
              <a:rPr lang="it-IT" dirty="0"/>
              <a:t>Analisi dei Gap per K =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4B4902-D5C1-5085-F20D-88935BE9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340" y="1046827"/>
            <a:ext cx="8938615" cy="3880773"/>
          </a:xfrm>
        </p:spPr>
        <p:txBody>
          <a:bodyPr/>
          <a:lstStyle/>
          <a:p>
            <a:pPr algn="just"/>
            <a:r>
              <a:rPr lang="it-IT" dirty="0"/>
              <a:t>Confrontare le istanze risolte con quelle </a:t>
            </a:r>
            <a:r>
              <a:rPr lang="it-IT"/>
              <a:t>in Time-Out </a:t>
            </a:r>
            <a:r>
              <a:rPr lang="it-IT" dirty="0"/>
              <a:t>rivela due dinamiche: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it-IT" dirty="0"/>
              <a:t>Le istanze medie andate in time-out si sono rivelate strutturalmente più favorevoli all'euristica, restituendo un errore medio (barre rosse) inferiore a quello misurato sugli ottimi (barre verdi).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it-IT" dirty="0"/>
              <a:t>Nelle istanze grandi l’uso del Lower Bound gonfia matematicamente la stima dell'errore.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351590-17B8-1AC5-FB3D-5BEE2BB32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40" y="2859305"/>
            <a:ext cx="10099447" cy="375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ACB5EE-63C4-3DEB-3129-75F65360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Esperimento: Caso K = 5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BEB4303-A789-5A51-3748-B201DA0FF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270000"/>
                <a:ext cx="9184421" cy="3880773"/>
              </a:xfrm>
            </p:spPr>
            <p:txBody>
              <a:bodyPr/>
              <a:lstStyle/>
              <a:p>
                <a:pPr algn="just"/>
                <a:r>
                  <a:rPr lang="it-IT" dirty="0"/>
                  <a:t>L'aumento dei veicoli da 3 a 5 amplifica il costo di risoluzione del modello, riducendo le prestazioni del PLI.</a:t>
                </a:r>
              </a:p>
              <a:p>
                <a:pPr algn="just"/>
                <a:r>
                  <a:rPr lang="it-IT" dirty="0"/>
                  <a:t>Il solutore riesce a gestire solo le istanze molto piccole, con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it-IT" dirty="0"/>
                  <a:t>. Già 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=45</m:t>
                    </m:r>
                  </m:oMath>
                </a14:m>
                <a:r>
                  <a:rPr lang="it-IT" dirty="0"/>
                  <a:t> la maggior parte dei test va in Time-Out.</a:t>
                </a:r>
              </a:p>
              <a:p>
                <a:pPr algn="just"/>
                <a:r>
                  <a:rPr lang="it-IT" dirty="0"/>
                  <a:t>Anche in questo caso la topologia spaziale delle istanze (Uniforme o Cluster) non influisce sulle prestazioni del modello.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BEB4303-A789-5A51-3748-B201DA0FF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270000"/>
                <a:ext cx="9184421" cy="3880773"/>
              </a:xfrm>
              <a:blipFill>
                <a:blip r:embed="rId2"/>
                <a:stretch>
                  <a:fillRect l="-133" t="-942" r="-5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5A967154-27D5-D480-331A-DD023D65F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4" y="3241878"/>
            <a:ext cx="8176605" cy="342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4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DC53EA-EE8B-B42C-6EDF-C3025D60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Esperimento: Caso K = 5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C8D13E-1670-27E2-49AD-D62E9097F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859956" cy="3880773"/>
          </a:xfrm>
        </p:spPr>
        <p:txBody>
          <a:bodyPr/>
          <a:lstStyle/>
          <a:p>
            <a:pPr algn="just"/>
            <a:r>
              <a:rPr lang="it-IT" dirty="0"/>
              <a:t>I tempi del PLI (linea rossa) crescono in modo rapido. Già per le istanze medie vengono registrati tempi medi superiori ai 200 secondi.</a:t>
            </a:r>
          </a:p>
          <a:p>
            <a:pPr algn="just"/>
            <a:r>
              <a:rPr lang="it-IT" dirty="0"/>
              <a:t>L'euristica di Clarke-Wright (linea blu tratteggiata) mantiene tempi di calcolo quasi nulli. Le istanze grandi vengono risolte, in media, in 0.005 secondi.</a:t>
            </a:r>
          </a:p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6DA5DEE-0DED-0364-6A68-2FB07318F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839851"/>
            <a:ext cx="9296400" cy="381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0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5B91C5-0998-6FEB-C298-89CB31DA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Caso K = 5: Qualità dell'Euristica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CBB4E1-AE84-6694-6BE1-AB991E7D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27893"/>
            <a:ext cx="4759905" cy="4574507"/>
          </a:xfrm>
        </p:spPr>
        <p:txBody>
          <a:bodyPr>
            <a:normAutofit/>
          </a:bodyPr>
          <a:lstStyle/>
          <a:p>
            <a:pPr algn="just"/>
            <a:r>
              <a:rPr lang="it-IT" dirty="0"/>
              <a:t>L'euristica di Clarke-Wright restituisce soluzioni di buona qualità.</a:t>
            </a:r>
          </a:p>
          <a:p>
            <a:pPr algn="just"/>
            <a:endParaRPr lang="it-IT" dirty="0"/>
          </a:p>
          <a:p>
            <a:pPr algn="just"/>
            <a:r>
              <a:rPr lang="it-IT" dirty="0"/>
              <a:t>L’errore medio percentuale (Gap) cresce in modo graduale, passando da un 3.0% nelle istanze piccole, per arrivare ad appena il 7.2% per le istanze grandi.</a:t>
            </a:r>
          </a:p>
          <a:p>
            <a:pPr algn="just"/>
            <a:endParaRPr lang="it-IT" dirty="0"/>
          </a:p>
          <a:p>
            <a:pPr algn="just"/>
            <a:r>
              <a:rPr lang="it-IT" b="1" dirty="0"/>
              <a:t>Risultati</a:t>
            </a:r>
            <a:r>
              <a:rPr lang="it-IT" dirty="0"/>
              <a:t>: buon compromesso tra la qualità delle rotte trovate e i tempi di esecuzione, che risultano praticamente azzerati.</a:t>
            </a:r>
          </a:p>
          <a:p>
            <a:pPr algn="just"/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5D00B3A-5FE6-0B7B-2262-5E9B6754C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238" y="1806628"/>
            <a:ext cx="6662659" cy="44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DEFBA4-569C-E95B-7BC0-AABDE4C9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dei Gap per K = 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3AD443-E756-EE73-1F52-D3DEA3821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9036937" cy="3880773"/>
          </a:xfrm>
        </p:spPr>
        <p:txBody>
          <a:bodyPr/>
          <a:lstStyle/>
          <a:p>
            <a:pPr algn="just"/>
            <a:r>
              <a:rPr lang="it-IT" dirty="0"/>
              <a:t>Valutare l'euristica rispetto al Lower Bound nei casi di Time-Out introduce una distorsione nella misurazione dell'errore che segue una tendenza univoca: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it-IT" dirty="0"/>
              <a:t>Per le istanze medie e grandi, il confronto con il LB fa sembrare l'errore sistematicamente più alto.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it-IT" dirty="0"/>
              <a:t>Nei casi in cui il solutore ha trovato l'ottimo, il gap reale evidenzia infatti valori costantemente inferiori rispetto al gap apparente.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134CE13-5EC6-2DEF-CD63-2C6DD61D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3255933"/>
            <a:ext cx="9036937" cy="334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9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613182-7BCE-B36A-9CF1-7A825DC1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E0C6B8F-C490-D838-CFD8-52A2BCAA2C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337187"/>
                <a:ext cx="8596668" cy="491121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it-IT" dirty="0"/>
                  <a:t>I risultati riflettono la natura NP-Hard del CVRP.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La criticità maggiore non risiede solo nell'aumento del numero di clienti, ma nell'espansione del numero dei veicoli. Passando da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=5,</m:t>
                    </m:r>
                  </m:oMath>
                </a14:m>
                <a:r>
                  <a:rPr lang="it-IT" dirty="0"/>
                  <a:t> l'esplosione combinatoria porta il solutore a Time-Out già su istanze molto piccole.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L’euristica restituisce sempre rotte complete per le istanze più grandi in frazioni di secondo.</a:t>
                </a:r>
              </a:p>
              <a:p>
                <a:pPr algn="just"/>
                <a:endParaRPr lang="it-IT" dirty="0"/>
              </a:p>
              <a:p>
                <a:pPr algn="just"/>
                <a:r>
                  <a:rPr lang="it-IT" dirty="0"/>
                  <a:t>Clarke-Wright si conferma una soluzione eccellente per uno scenario reale: accettare un margine d'errore minimo permette di azzerare i tempi di calcolo.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E0C6B8F-C490-D838-CFD8-52A2BCAA2C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337187"/>
                <a:ext cx="8596668" cy="4911213"/>
              </a:xfrm>
              <a:blipFill>
                <a:blip r:embed="rId2"/>
                <a:stretch>
                  <a:fillRect l="-142" t="-744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69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309569-0182-EF64-E204-3C77388D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33" y="2768600"/>
            <a:ext cx="6127134" cy="1320800"/>
          </a:xfrm>
        </p:spPr>
        <p:txBody>
          <a:bodyPr/>
          <a:lstStyle/>
          <a:p>
            <a:r>
              <a:rPr lang="it-IT" dirty="0"/>
              <a:t>GRAZIE PER L’ATTENZIONE!!!</a:t>
            </a:r>
          </a:p>
        </p:txBody>
      </p:sp>
    </p:spTree>
    <p:extLst>
      <p:ext uri="{BB962C8B-B14F-4D97-AF65-F5344CB8AC3E}">
        <p14:creationId xmlns:p14="http://schemas.microsoft.com/office/powerpoint/2010/main" val="541083402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1446</TotalTime>
  <Words>1745</Words>
  <Application>Microsoft Office PowerPoint</Application>
  <PresentationFormat>Widescreen</PresentationFormat>
  <Paragraphs>142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Arial</vt:lpstr>
      <vt:lpstr>Cambria Math</vt:lpstr>
      <vt:lpstr>Courier New</vt:lpstr>
      <vt:lpstr>Trebuchet MS</vt:lpstr>
      <vt:lpstr>Wingdings</vt:lpstr>
      <vt:lpstr>Wingdings 3</vt:lpstr>
      <vt:lpstr>Sfaccettatura</vt:lpstr>
      <vt:lpstr>Vehicle Routing Problem (VRP): Analisi comparativa tra un Modello PLI e l’Euristica di Clarke-Wright</vt:lpstr>
      <vt:lpstr>Introduzione ed Obiettivo dello Studio</vt:lpstr>
      <vt:lpstr>Capacitated Vehicle Routing Problem</vt:lpstr>
      <vt:lpstr>Il modello PLI (1)</vt:lpstr>
      <vt:lpstr>Il modello PLI (2)</vt:lpstr>
      <vt:lpstr>Algoritmo Euristico di Clarke-Wright</vt:lpstr>
      <vt:lpstr>Generazione Randomica delle Istanze</vt:lpstr>
      <vt:lpstr>Stress Test per il PLI</vt:lpstr>
      <vt:lpstr>Risultati dello Stress Test</vt:lpstr>
      <vt:lpstr>Esperimento finale</vt:lpstr>
      <vt:lpstr>Risultati Esperimento: Caso K = 3 </vt:lpstr>
      <vt:lpstr>Risultati Esperimento: Caso K = 3 </vt:lpstr>
      <vt:lpstr>Risultati Caso K = 3: Qualità dell'Euristica</vt:lpstr>
      <vt:lpstr>Analisi dei Gap per K = 3</vt:lpstr>
      <vt:lpstr>Risultati Esperimento: Caso K = 5 </vt:lpstr>
      <vt:lpstr>Risultati Esperimento: Caso K = 5 </vt:lpstr>
      <vt:lpstr>Risultati Caso K = 5: Qualità dell'Euristica</vt:lpstr>
      <vt:lpstr>Analisi dei Gap per K = 5</vt:lpstr>
      <vt:lpstr>Conclusioni</vt:lpstr>
      <vt:lpstr>GRAZIE PER L’ATTENZIONE!!!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Pinfildi</dc:creator>
  <cp:lastModifiedBy>Matteo Pinfildi</cp:lastModifiedBy>
  <cp:revision>92</cp:revision>
  <dcterms:created xsi:type="dcterms:W3CDTF">2026-09-10T10:08:01Z</dcterms:created>
  <dcterms:modified xsi:type="dcterms:W3CDTF">2026-09-29T20:36:07Z</dcterms:modified>
</cp:coreProperties>
</file>